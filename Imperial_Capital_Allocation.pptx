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82D019F-1518-4749-B477-6B19AC818557}">
          <p14:sldIdLst>
            <p14:sldId id="256"/>
          </p14:sldIdLst>
        </p14:section>
        <p14:section name="Client and data" id="{FBA2FC11-C587-502C-A73D-A11D2FD89110}">
          <p14:sldIdLst>
            <p14:sldId id="257"/>
            <p14:sldId id="258"/>
          </p14:sldIdLst>
        </p14:section>
        <p14:section name="The solution" id="{EA61AF16-4553-13F9-40E0-653B8457A650}">
          <p14:sldIdLst>
            <p14:sldId id="259"/>
            <p14:sldId id="260"/>
          </p14:sldIdLst>
        </p14:section>
        <p14:section name="Demo" id="{F86D0FE4-BFD8-A6E2-020B-A50A78EE3859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41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72C"/>
              </a:solidFill>
              <a:ln w="38100" cap="flat">
                <a:solidFill>
                  <a:srgbClr val="12172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027-4FC7-9BC6-89271E61883D}"/>
              </c:ext>
            </c:extLst>
          </c:dPt>
          <c:dPt>
            <c:idx val="1"/>
            <c:bubble3D val="0"/>
            <c:spPr>
              <a:solidFill>
                <a:srgbClr val="5B3FA0"/>
              </a:solidFill>
              <a:ln w="38100" cap="flat">
                <a:solidFill>
                  <a:srgbClr val="12172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27-4FC7-9BC6-89271E61883D}"/>
              </c:ext>
            </c:extLst>
          </c:dPt>
          <c:dPt>
            <c:idx val="2"/>
            <c:bubble3D val="0"/>
            <c:spPr>
              <a:solidFill>
                <a:srgbClr val="2A9D8F"/>
              </a:solidFill>
              <a:ln w="38100" cap="flat">
                <a:solidFill>
                  <a:srgbClr val="12172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D027-4FC7-9BC6-89271E61883D}"/>
              </c:ext>
            </c:extLst>
          </c:dPt>
          <c:dPt>
            <c:idx val="3"/>
            <c:bubble3D val="0"/>
            <c:spPr>
              <a:solidFill>
                <a:srgbClr val="8D7FBF"/>
              </a:solidFill>
              <a:ln w="38100" cap="flat">
                <a:solidFill>
                  <a:srgbClr val="12172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D027-4FC7-9BC6-89271E61883D}"/>
              </c:ext>
            </c:extLst>
          </c:dPt>
          <c:cat>
            <c:strRef>
              <c:f>Sheet1!$A$2:$A$5</c:f>
              <c:strCache>
                <c:ptCount val="4"/>
                <c:pt idx="0">
                  <c:v>Growth</c:v>
                </c:pt>
                <c:pt idx="1">
                  <c:v>Risk</c:v>
                </c:pt>
                <c:pt idx="2">
                  <c:v>Tax</c:v>
                </c:pt>
                <c:pt idx="3">
                  <c:v>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027-4FC7-9BC6-89271E6188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6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accent1"/>
                </a:solidFill>
              </a:rPr>
              <a:t>Key message  </a:t>
            </a:r>
            <a:r>
              <a:rPr lang="en-US" sz="1200" dirty="0">
                <a:solidFill>
                  <a:schemeClr val="bg1"/>
                </a:solidFill>
              </a:rPr>
              <a:t>Turn portfolio context, public market information, and business strategy into a clear, explainable investment recommendation.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accent1"/>
                </a:solidFill>
              </a:rPr>
              <a:t>Closing pitch  </a:t>
            </a:r>
            <a:r>
              <a:rPr lang="en-US" sz="1200" dirty="0">
                <a:solidFill>
                  <a:schemeClr val="bg1"/>
                </a:solidFill>
              </a:rPr>
              <a:t>A fast, structured, explainable way for high-growth investors to evaluate capital allocation using public data and LLMs.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Imperial Capital Allocation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Imperial Capital Allocation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ployed-ms-hack.vercel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Imperial Capital Allocation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AI-powered investment guidance for high-growth startup investors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577840" y="457200"/>
          <a:ext cx="31089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57784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Key message card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777240" y="38862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chemeClr val="bg1"/>
                </a:solidFill>
              </a:rPr>
              <a:t>A public-data + LLM tool that recommends where a client should invest capital and why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client</a:t>
            </a:r>
            <a:endParaRPr lang="en-US" sz="3600" dirty="0"/>
          </a:p>
        </p:txBody>
      </p:sp>
      <p:sp>
        <p:nvSpPr>
          <p:cNvPr id="3" name="Client profile card"/>
          <p:cNvSpPr/>
          <p:nvPr/>
        </p:nvSpPr>
        <p:spPr>
          <a:xfrm>
            <a:off x="457200" y="1234440"/>
            <a:ext cx="402336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Icon circle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1328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37160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Client profile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High-growth startup investor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Wants faster, smarter capital-allocation decisions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Values clear reasoning, not just raw numbers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Needs recommendations that balance risk, return, time horizon, and tax</a:t>
            </a:r>
            <a:endParaRPr lang="en-US" sz="1400" dirty="0"/>
          </a:p>
        </p:txBody>
      </p:sp>
      <p:sp>
        <p:nvSpPr>
          <p:cNvPr id="8" name="Pain points card"/>
          <p:cNvSpPr/>
          <p:nvPr/>
        </p:nvSpPr>
        <p:spPr>
          <a:xfrm>
            <a:off x="4663440" y="1234440"/>
            <a:ext cx="402336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Icon circle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481328"/>
            <a:ext cx="192024" cy="192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76672" y="137160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Pain points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92024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Too many scattered signals: market trends, portfolio data, startup quality, risk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Hard to compare opportunities in plain English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Difficult to see why one investment is better than another</a:t>
            </a:r>
            <a:endParaRPr lang="en-US" sz="1400" dirty="0"/>
          </a:p>
        </p:txBody>
      </p:sp>
      <p:sp>
        <p:nvSpPr>
          <p:cNvPr id="13" name="Why this matters banner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this matters:  </a:t>
            </a:r>
            <a:r>
              <a:rPr lang="en-US" sz="1400" dirty="0">
                <a:solidFill>
                  <a:schemeClr val="bg1"/>
                </a:solidFill>
              </a:rPr>
              <a:t>Investors need a fast first-pass decision support tool before deeper diligence.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data</a:t>
            </a:r>
            <a:endParaRPr lang="en-US" sz="3600" dirty="0"/>
          </a:p>
        </p:txBody>
      </p:sp>
      <p:sp>
        <p:nvSpPr>
          <p:cNvPr id="3" name="Data sources card"/>
          <p:cNvSpPr/>
          <p:nvPr/>
        </p:nvSpPr>
        <p:spPr>
          <a:xfrm>
            <a:off x="457200" y="1234440"/>
            <a:ext cx="420624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Icon circle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1328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37160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sources used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market and portfolio data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Portfolio holdings and performance history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Startup or investment scenario context entered by the user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guidance for tax and policy context (e.g. UK tax rules)</a:t>
            </a:r>
            <a:endParaRPr lang="en-US" sz="1400" dirty="0"/>
          </a:p>
        </p:txBody>
      </p:sp>
      <p:sp>
        <p:nvSpPr>
          <p:cNvPr id="8" name="Why it matters card"/>
          <p:cNvSpPr/>
          <p:nvPr/>
        </p:nvSpPr>
        <p:spPr>
          <a:xfrm>
            <a:off x="4846320" y="1234440"/>
            <a:ext cx="38404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Icon circle"/>
          <p:cNvSpPr/>
          <p:nvPr/>
        </p:nvSpPr>
        <p:spPr>
          <a:xfrm>
            <a:off x="5029200" y="1353312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463040"/>
            <a:ext cx="192024" cy="192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59552" y="1353312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182880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recommendation is grounded in real, referenceable inputs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model is not guessing from a blank prompt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combines structured data with public knowledge</a:t>
            </a:r>
            <a:endParaRPr lang="en-US" sz="1400" dirty="0"/>
          </a:p>
        </p:txBody>
      </p:sp>
      <p:sp>
        <p:nvSpPr>
          <p:cNvPr id="13" name="Tech foundation card"/>
          <p:cNvSpPr/>
          <p:nvPr/>
        </p:nvSpPr>
        <p:spPr>
          <a:xfrm>
            <a:off x="4846320" y="3456432"/>
            <a:ext cx="3840480" cy="1207008"/>
          </a:xfrm>
          <a:prstGeom prst="roundRect">
            <a:avLst>
              <a:gd name="adj" fmla="val 75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Icon circle"/>
          <p:cNvSpPr/>
          <p:nvPr/>
        </p:nvSpPr>
        <p:spPr>
          <a:xfrm>
            <a:off x="5029200" y="3511296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928" y="3621024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559552" y="3511296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Tech foundation</a:t>
            </a:r>
            <a:endParaRPr lang="en-US" sz="1800" dirty="0"/>
          </a:p>
        </p:txBody>
      </p:sp>
      <p:sp>
        <p:nvSpPr>
          <p:cNvPr id="17" name="Tech chip"/>
          <p:cNvSpPr/>
          <p:nvPr/>
        </p:nvSpPr>
        <p:spPr>
          <a:xfrm>
            <a:off x="5029200" y="3950208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3"/>
          <p:cNvSpPr txBox="1"/>
          <p:nvPr/>
        </p:nvSpPr>
        <p:spPr>
          <a:xfrm>
            <a:off x="5029200" y="39502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Python</a:t>
            </a:r>
            <a:endParaRPr lang="en-US" sz="1400" dirty="0"/>
          </a:p>
        </p:txBody>
      </p:sp>
      <p:sp>
        <p:nvSpPr>
          <p:cNvPr id="19" name="Tech chip"/>
          <p:cNvSpPr/>
          <p:nvPr/>
        </p:nvSpPr>
        <p:spPr>
          <a:xfrm>
            <a:off x="6035040" y="3950208"/>
            <a:ext cx="100584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5"/>
          <p:cNvSpPr txBox="1"/>
          <p:nvPr/>
        </p:nvSpPr>
        <p:spPr>
          <a:xfrm>
            <a:off x="6035040" y="3950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FastAPI</a:t>
            </a:r>
            <a:endParaRPr lang="en-US" sz="1400" dirty="0"/>
          </a:p>
        </p:txBody>
      </p:sp>
      <p:sp>
        <p:nvSpPr>
          <p:cNvPr id="21" name="Tech chip"/>
          <p:cNvSpPr/>
          <p:nvPr/>
        </p:nvSpPr>
        <p:spPr>
          <a:xfrm>
            <a:off x="7132320" y="3950208"/>
            <a:ext cx="137160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 txBox="1"/>
          <p:nvPr/>
        </p:nvSpPr>
        <p:spPr>
          <a:xfrm>
            <a:off x="7132320" y="39502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Azure OpenAI</a:t>
            </a:r>
            <a:endParaRPr lang="en-US" sz="1400" dirty="0"/>
          </a:p>
        </p:txBody>
      </p:sp>
      <p:sp>
        <p:nvSpPr>
          <p:cNvPr id="23" name="Tech chip"/>
          <p:cNvSpPr/>
          <p:nvPr/>
        </p:nvSpPr>
        <p:spPr>
          <a:xfrm>
            <a:off x="5029200" y="4315968"/>
            <a:ext cx="34747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 txBox="1"/>
          <p:nvPr/>
        </p:nvSpPr>
        <p:spPr>
          <a:xfrm>
            <a:off x="5029200" y="43159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Prompt-driven reasoning layer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AI does</a:t>
            </a:r>
            <a:endParaRPr lang="en-US" sz="3600" dirty="0"/>
          </a:p>
        </p:txBody>
      </p:sp>
      <p:sp>
        <p:nvSpPr>
          <p:cNvPr id="3" name="Assistant card"/>
          <p:cNvSpPr/>
          <p:nvPr/>
        </p:nvSpPr>
        <p:spPr>
          <a:xfrm>
            <a:off x="457200" y="1234440"/>
            <a:ext cx="4937760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Icon circle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1328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371600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decision-support assistant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Reads the client’s investment question and constraints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Understands the selected time horizon and investment context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Reviews portfolio or strategy inputs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Summarises opportunities, risks, and likely trade-offs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Explains the recommendation in plain English</a:t>
            </a:r>
            <a:endParaRPr lang="en-US" sz="1400" dirty="0"/>
          </a:p>
        </p:txBody>
      </p:sp>
      <p:sp>
        <p:nvSpPr>
          <p:cNvPr id="8" name="Assess card"/>
          <p:cNvSpPr/>
          <p:nvPr/>
        </p:nvSpPr>
        <p:spPr>
          <a:xfrm>
            <a:off x="5577840" y="1234440"/>
            <a:ext cx="3108960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Icon circle"/>
          <p:cNvSpPr/>
          <p:nvPr/>
        </p:nvSpPr>
        <p:spPr>
          <a:xfrm>
            <a:off x="576072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481328"/>
            <a:ext cx="192024" cy="192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91072" y="13716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can assess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92024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Growth potential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 profile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Portfolio fit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Tax and structural considerations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Missing information or uncertainty</a:t>
            </a:r>
            <a:endParaRPr lang="en-US" sz="1400" dirty="0"/>
          </a:p>
        </p:txBody>
      </p:sp>
      <p:sp>
        <p:nvSpPr>
          <p:cNvPr id="13" name="Key value banner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68580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value:  </a:t>
            </a:r>
            <a:r>
              <a:rPr lang="en-US" sz="1400" dirty="0">
                <a:solidFill>
                  <a:schemeClr val="bg1"/>
                </a:solidFill>
              </a:rPr>
              <a:t>It turns complex financial input into a practical, understandable recommendation.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Recommendation system</a:t>
            </a:r>
            <a:endParaRPr lang="en-US" sz="3600" dirty="0"/>
          </a:p>
        </p:txBody>
      </p:sp>
      <p:sp>
        <p:nvSpPr>
          <p:cNvPr id="3" name="Step number"/>
          <p:cNvSpPr/>
          <p:nvPr/>
        </p:nvSpPr>
        <p:spPr>
          <a:xfrm>
            <a:off x="457200" y="130759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457200" y="1307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23444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Client enters scenario and investment context</a:t>
            </a:r>
            <a:endParaRPr lang="en-US" sz="1400" dirty="0"/>
          </a:p>
        </p:txBody>
      </p:sp>
      <p:sp>
        <p:nvSpPr>
          <p:cNvPr id="6" name="Step number"/>
          <p:cNvSpPr/>
          <p:nvPr/>
        </p:nvSpPr>
        <p:spPr>
          <a:xfrm>
            <a:off x="457200" y="185623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45720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8308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System collects user inputs and portfolio data</a:t>
            </a:r>
            <a:endParaRPr lang="en-US" sz="1400" dirty="0"/>
          </a:p>
        </p:txBody>
      </p:sp>
      <p:sp>
        <p:nvSpPr>
          <p:cNvPr id="9" name="Step number"/>
          <p:cNvSpPr/>
          <p:nvPr/>
        </p:nvSpPr>
        <p:spPr>
          <a:xfrm>
            <a:off x="457200" y="240487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45720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33172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LLM receives structured context plus guardrails</a:t>
            </a:r>
            <a:endParaRPr lang="en-US" sz="1400" dirty="0"/>
          </a:p>
        </p:txBody>
      </p:sp>
      <p:sp>
        <p:nvSpPr>
          <p:cNvPr id="12" name="Step number"/>
          <p:cNvSpPr/>
          <p:nvPr/>
        </p:nvSpPr>
        <p:spPr>
          <a:xfrm>
            <a:off x="457200" y="29535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45720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88036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AI generates a recommended strategy, reasoning, key risks, and assumptions and caveats</a:t>
            </a:r>
            <a:endParaRPr lang="en-US" sz="1400" dirty="0"/>
          </a:p>
        </p:txBody>
      </p:sp>
      <p:sp>
        <p:nvSpPr>
          <p:cNvPr id="15" name="Step number"/>
          <p:cNvSpPr/>
          <p:nvPr/>
        </p:nvSpPr>
        <p:spPr>
          <a:xfrm>
            <a:off x="457200" y="35021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45720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42900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Output is displayed as a clear recommendation</a:t>
            </a:r>
            <a:endParaRPr lang="en-US" sz="1400" dirty="0"/>
          </a:p>
        </p:txBody>
      </p:sp>
      <p:sp>
        <p:nvSpPr>
          <p:cNvPr id="18" name="Why it works card"/>
          <p:cNvSpPr/>
          <p:nvPr/>
        </p:nvSpPr>
        <p:spPr>
          <a:xfrm>
            <a:off x="5577840" y="1234440"/>
            <a:ext cx="3108960" cy="2706624"/>
          </a:xfrm>
          <a:prstGeom prst="roundRect">
            <a:avLst>
              <a:gd name="adj" fmla="val 33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Icon circle"/>
          <p:cNvSpPr/>
          <p:nvPr/>
        </p:nvSpPr>
        <p:spPr>
          <a:xfrm>
            <a:off x="576072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481328"/>
            <a:ext cx="192024" cy="19202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291072" y="13716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works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760720" y="19202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is grounded in public data and context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explains not just the answer, but the logic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includes uncertainty where data is incomplete</a:t>
            </a:r>
            <a:endParaRPr lang="en-US" sz="1400" dirty="0"/>
          </a:p>
        </p:txBody>
      </p:sp>
      <p:sp>
        <p:nvSpPr>
          <p:cNvPr id="23" name="Principle banner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 txBox="1"/>
          <p:nvPr/>
        </p:nvSpPr>
        <p:spPr>
          <a:xfrm>
            <a:off x="685800" y="40873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Important principle  </a:t>
            </a:r>
            <a:r>
              <a:rPr lang="en-US" sz="1400" dirty="0">
                <a:solidFill>
                  <a:schemeClr val="bg1"/>
                </a:solidFill>
              </a:rPr>
              <a:t>This is decision support, not financial advice. The model flags caveats and limitations.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Live demo</a:t>
            </a:r>
            <a:endParaRPr lang="en-US" sz="3600" dirty="0"/>
          </a:p>
        </p:txBody>
      </p:sp>
      <p:sp>
        <p:nvSpPr>
          <p:cNvPr id="3" name="Demo step card"/>
          <p:cNvSpPr/>
          <p:nvPr/>
        </p:nvSpPr>
        <p:spPr>
          <a:xfrm>
            <a:off x="457200" y="123444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tep number"/>
          <p:cNvSpPr/>
          <p:nvPr/>
        </p:nvSpPr>
        <p:spPr>
          <a:xfrm>
            <a:off x="594360" y="14813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59436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User opens the web app</a:t>
            </a:r>
            <a:endParaRPr lang="en-US" sz="1400" dirty="0"/>
          </a:p>
        </p:txBody>
      </p:sp>
      <p:sp>
        <p:nvSpPr>
          <p:cNvPr id="7" name="Demo step card"/>
          <p:cNvSpPr/>
          <p:nvPr/>
        </p:nvSpPr>
        <p:spPr>
          <a:xfrm>
            <a:off x="3246120" y="123444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tep number"/>
          <p:cNvSpPr/>
          <p:nvPr/>
        </p:nvSpPr>
        <p:spPr>
          <a:xfrm>
            <a:off x="3383280" y="14813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38328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Enters a startup investment scenario</a:t>
            </a:r>
            <a:endParaRPr lang="en-US" sz="1400" dirty="0"/>
          </a:p>
        </p:txBody>
      </p:sp>
      <p:sp>
        <p:nvSpPr>
          <p:cNvPr id="11" name="Demo step card"/>
          <p:cNvSpPr/>
          <p:nvPr/>
        </p:nvSpPr>
        <p:spPr>
          <a:xfrm>
            <a:off x="6035040" y="123444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tep number"/>
          <p:cNvSpPr/>
          <p:nvPr/>
        </p:nvSpPr>
        <p:spPr>
          <a:xfrm>
            <a:off x="6172200" y="14813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17220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Selects time horizon</a:t>
            </a:r>
            <a:endParaRPr lang="en-US" sz="1400" dirty="0"/>
          </a:p>
        </p:txBody>
      </p:sp>
      <p:sp>
        <p:nvSpPr>
          <p:cNvPr id="15" name="Demo step card"/>
          <p:cNvSpPr/>
          <p:nvPr/>
        </p:nvSpPr>
        <p:spPr>
          <a:xfrm>
            <a:off x="457200" y="224028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tep number"/>
          <p:cNvSpPr/>
          <p:nvPr/>
        </p:nvSpPr>
        <p:spPr>
          <a:xfrm>
            <a:off x="594360" y="24871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59436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286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The app sends the request to the AI engine</a:t>
            </a:r>
            <a:endParaRPr lang="en-US" sz="1400" dirty="0"/>
          </a:p>
        </p:txBody>
      </p:sp>
      <p:sp>
        <p:nvSpPr>
          <p:cNvPr id="19" name="Demo step card"/>
          <p:cNvSpPr/>
          <p:nvPr/>
        </p:nvSpPr>
        <p:spPr>
          <a:xfrm>
            <a:off x="3246120" y="224028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tep number"/>
          <p:cNvSpPr/>
          <p:nvPr/>
        </p:nvSpPr>
        <p:spPr>
          <a:xfrm>
            <a:off x="3383280" y="24871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338328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2286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AI provides a recommendation with rationale</a:t>
            </a:r>
            <a:endParaRPr lang="en-US" sz="1400" dirty="0"/>
          </a:p>
        </p:txBody>
      </p:sp>
      <p:sp>
        <p:nvSpPr>
          <p:cNvPr id="23" name="Demo step card"/>
          <p:cNvSpPr/>
          <p:nvPr/>
        </p:nvSpPr>
        <p:spPr>
          <a:xfrm>
            <a:off x="6035040" y="224028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tep number"/>
          <p:cNvSpPr/>
          <p:nvPr/>
        </p:nvSpPr>
        <p:spPr>
          <a:xfrm>
            <a:off x="6172200" y="24871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617220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2286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User sees a concise, explainable output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337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Demo highlight  </a:t>
            </a:r>
            <a:r>
              <a:rPr lang="en-US" sz="1600" i="1" dirty="0">
                <a:solidFill>
                  <a:schemeClr val="accent1"/>
                </a:solidFill>
              </a:rPr>
              <a:t>“A startup investor can ask: where should I deploy this capital, and why?”</a:t>
            </a:r>
            <a:endParaRPr lang="en-US" sz="1600" dirty="0"/>
          </a:p>
        </p:txBody>
      </p:sp>
      <p:sp>
        <p:nvSpPr>
          <p:cNvPr id="28" name="Closing pitch card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68580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</a:t>
            </a:r>
            <a:endParaRPr lang="en-US" sz="2800" u="sng" dirty="0">
              <a:solidFill>
                <a:schemeClr val="bg1"/>
              </a:solidFill>
            </a:endParaRP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perial Capital">
  <a:themeElements>
    <a:clrScheme name="Imperial Capital">
      <a:dk1>
        <a:srgbClr val="12172F"/>
      </a:dk1>
      <a:lt1>
        <a:srgbClr val="FFFFFF"/>
      </a:lt1>
      <a:dk2>
        <a:srgbClr val="3B2A6B"/>
      </a:dk2>
      <a:lt2>
        <a:srgbClr val="F3F0FA"/>
      </a:lt2>
      <a:accent1>
        <a:srgbClr val="D4A72C"/>
      </a:accent1>
      <a:accent2>
        <a:srgbClr val="5B3FA0"/>
      </a:accent2>
      <a:accent3>
        <a:srgbClr val="2A9D8F"/>
      </a:accent3>
      <a:accent4>
        <a:srgbClr val="E76F51"/>
      </a:accent4>
      <a:accent5>
        <a:srgbClr val="8D7FBF"/>
      </a:accent5>
      <a:accent6>
        <a:srgbClr val="1F2A5C"/>
      </a:accent6>
      <a:hlink>
        <a:srgbClr val="5B3FA0"/>
      </a:hlink>
      <a:folHlink>
        <a:srgbClr val="8D7FBF"/>
      </a:folHlink>
    </a:clrScheme>
    <a:fontScheme name="Imperial Capit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472</Words>
  <Application>Microsoft Office PowerPoint</Application>
  <PresentationFormat>On-screen Show (16:9)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Imperial Capital</vt:lpstr>
      <vt:lpstr>Imperial Capital Allocation</vt:lpstr>
      <vt:lpstr>The client</vt:lpstr>
      <vt:lpstr>The data</vt:lpstr>
      <vt:lpstr>What the AI does</vt:lpstr>
      <vt:lpstr>Recommendation system</vt:lpstr>
      <vt:lpstr>Live demo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Imperial Capital Allocation</dc:title>
  <dc:subject>PptxGenJS Presentation</dc:subject>
  <dc:creator>PptxGenJS</dc:creator>
  <cp:lastModifiedBy>Lewis Tang</cp:lastModifiedBy>
  <cp:revision>2</cp:revision>
  <dcterms:created xsi:type="dcterms:W3CDTF">2026-10-23T14:37:33Z</dcterms:created>
  <dcterms:modified xsi:type="dcterms:W3CDTF">2026-10-23T14:44:01Z</dcterms:modified>
</cp:coreProperties>
</file>